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00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GROUP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Speech Emotion
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9B4FA"/>
                </a:solidFill>
              </a:rPr>
              <a:t>Sprint 2 — Data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3375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SQL · Cleaning · Preprocessing · tf.data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2286000"/>
            <a:ext cx="1920240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CREMA-D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286000"/>
            <a:ext cx="1920240" cy="50292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RAVDESS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332720" y="2286000"/>
            <a:ext cx="1920240" cy="50292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16 kHz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3291840"/>
            <a:ext cx="1920240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3.5 s cap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3291840"/>
            <a:ext cx="1920240" cy="50292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MelCNN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20" y="3291840"/>
            <a:ext cx="1920240" cy="50292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BiGRU+Attn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4297680"/>
            <a:ext cx="1920240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Pairwise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4297680"/>
            <a:ext cx="1920240" cy="50292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Aiven 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64008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280160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Project Overview &amp; Sprint 2 Goals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38528"/>
            <a:ext cx="64008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38528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Dataset &amp; Data Cleaning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96896"/>
            <a:ext cx="64008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596896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SQL Integration (Aiven MySQL)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55264"/>
            <a:ext cx="64008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255264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Feature Extraction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13631"/>
            <a:ext cx="64008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913631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Model Architectures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64008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72000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Standardisation Across Notebooks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230368"/>
            <a:ext cx="64008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230368"/>
            <a:ext cx="9601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Build a speech emotion recognition system that classifies audio clips into 6 emotions.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1691640" cy="50292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Angry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0" y="1874519"/>
            <a:ext cx="1691640" cy="502920"/>
          </a:xfrm>
          <a:prstGeom prst="rect">
            <a:avLst/>
          </a:prstGeom>
          <a:solidFill>
            <a:srgbClr val="EBA0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Disgusted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874519"/>
            <a:ext cx="1691640" cy="502920"/>
          </a:xfrm>
          <a:prstGeom prst="rect">
            <a:avLst/>
          </a:prstGeom>
          <a:solidFill>
            <a:srgbClr val="CBA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Fearful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59" y="1874519"/>
            <a:ext cx="1691640" cy="50292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Happy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1874519"/>
            <a:ext cx="1691640" cy="502920"/>
          </a:xfrm>
          <a:prstGeom prst="rect">
            <a:avLst/>
          </a:prstGeom>
          <a:solidFill>
            <a:srgbClr val="89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Neutral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29800" y="1874519"/>
            <a:ext cx="1691640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Sad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</a:rPr>
              <a:t>Data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• CREMA-D — 91 speakers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930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• RAVDESS — 24 actors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7705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• ~7,300 clips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2611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• 6 matched emotions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2651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</a:rPr>
              <a:t>Models Explored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108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• MelCNN (perceptual spec.)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4930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• CNN + BiGRU + Attention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387705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• Pairwise Voting (15 CNNs)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42611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• WavLM (HF deployment)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651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</a:rPr>
              <a:t>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3108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• Aiven MySQL metadata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4930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• Kaggle / Colab / Local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387705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• HuggingFace Spaces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42611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• Flask + SQLAlchemy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Dataset &amp; Data Cleaning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9B4FA"/>
                </a:solidFill>
              </a:rPr>
              <a:t>Raw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CREMA-D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7,442 clips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691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C7086"/>
                </a:solidFill>
              </a:rPr>
              <a:t>91 speakers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585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RAVDESS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2585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1,884 clips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2585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C7086"/>
                </a:solidFill>
              </a:rPr>
              <a:t>24 actors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2549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82549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2,800 clips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8254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C7086"/>
                </a:solidFill>
              </a:rPr>
              <a:t>2 speakers  ✗ dropped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9242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SAVEE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39242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480 clips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3924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C7086"/>
                </a:solidFill>
              </a:rPr>
              <a:t>4 speakers  ✗ dropped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188720"/>
            <a:ext cx="36576" cy="5303520"/>
          </a:xfrm>
          <a:prstGeom prst="rect">
            <a:avLst/>
          </a:prstGeom>
          <a:solidFill>
            <a:srgbClr val="6C7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12344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9B4FA"/>
                </a:solidFill>
              </a:rPr>
              <a:t>Cleaning Decisions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691640"/>
            <a:ext cx="1371600" cy="384048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Decision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169164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Keep CREMA-D + RAVDESS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14884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Best speaker diversity &amp; matched emotion sets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807208"/>
            <a:ext cx="1371600" cy="384048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Decision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807208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Drop Surprised class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264408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Absent from CREMA-D — source-confounded label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922776"/>
            <a:ext cx="1371600" cy="384048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Decision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392277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Duration window 1.0 – 3.5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379976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Min content floor; max matches fixed-length tensor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5038344"/>
            <a:ext cx="1371600" cy="384048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Decision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503834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80/20 stratified random split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5495544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Consistent across all notebooks (random_state=42)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SQL Integration — Aiven MySQL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9B4FA"/>
                </a:solidFill>
              </a:rPr>
              <a:t>clips Table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Column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6916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916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1828800" cy="4114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clip_id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2103120"/>
            <a:ext cx="1645920" cy="4114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CCCCCC"/>
                </a:solidFill>
              </a:rPr>
              <a:t>INT (PK)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103120"/>
            <a:ext cx="3657600" cy="4114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CCCCCC"/>
                </a:solidFill>
              </a:rPr>
              <a:t>Auto-assigned row 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42032"/>
            <a:ext cx="1828800" cy="411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filename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2542032"/>
            <a:ext cx="1645920" cy="411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CCCCCC"/>
                </a:solidFill>
              </a:rPr>
              <a:t>VARCHAR(255)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2542032"/>
            <a:ext cx="3657600" cy="411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CCCCCC"/>
                </a:solidFill>
              </a:rPr>
              <a:t>Original audio filename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80944"/>
            <a:ext cx="1828800" cy="4114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980944"/>
            <a:ext cx="1645920" cy="4114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CCCCCC"/>
                </a:solidFill>
              </a:rPr>
              <a:t>VARCHAR(16)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2980944"/>
            <a:ext cx="3657600" cy="4114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CCCCCC"/>
                </a:solidFill>
              </a:rPr>
              <a:t>CREMA-D / RAVDESS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19856"/>
            <a:ext cx="1828800" cy="411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emotion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3419856"/>
            <a:ext cx="1645920" cy="411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CCCCCC"/>
                </a:solidFill>
              </a:rPr>
              <a:t>VARCHAR(16)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3419856"/>
            <a:ext cx="3657600" cy="411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CCCCCC"/>
                </a:solidFill>
              </a:rPr>
              <a:t>Ground-truth label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58768"/>
            <a:ext cx="1828800" cy="4114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duration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3858768"/>
            <a:ext cx="1645920" cy="4114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CCCCCC"/>
                </a:solidFill>
              </a:rPr>
              <a:t>FLOAT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3858768"/>
            <a:ext cx="3657600" cy="4114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CCCCCC"/>
                </a:solidFill>
              </a:rPr>
              <a:t>Clip length in seconds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97679"/>
            <a:ext cx="1828800" cy="411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path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4297679"/>
            <a:ext cx="1645920" cy="411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CCCCCC"/>
                </a:solidFill>
              </a:rPr>
              <a:t>VARCHAR(512)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4297679"/>
            <a:ext cx="3657600" cy="411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CCCCCC"/>
                </a:solidFill>
              </a:rPr>
              <a:t>Absolute file path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36592"/>
            <a:ext cx="1828800" cy="4114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split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4736592"/>
            <a:ext cx="1645920" cy="4114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CCCCCC"/>
                </a:solidFill>
              </a:rPr>
              <a:t>VARCHAR(8)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4736592"/>
            <a:ext cx="3657600" cy="4114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CCCCCC"/>
                </a:solidFill>
              </a:rPr>
              <a:t>train /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9B4FA"/>
                </a:solidFill>
              </a:rPr>
              <a:t>Write Flow (idempotent)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691640"/>
            <a:ext cx="45720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169164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DROP TABLE IF EXISTS clips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2176272"/>
            <a:ext cx="9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086"/>
                </a:solidFill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514600"/>
            <a:ext cx="45720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251460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CREATE TABLE clips (..., PRIMARY KEY (clip_id))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2999232"/>
            <a:ext cx="9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086"/>
                </a:solidFill>
              </a:rP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337560"/>
            <a:ext cx="45720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333756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df.to_sql(..., if_exists='append')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822191"/>
            <a:ext cx="9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7086"/>
                </a:solidFill>
              </a:rPr>
              <a:t>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160520"/>
            <a:ext cx="45720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160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SELECT * WHERE split = 'train' / 'test'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1206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9E2AF"/>
                </a:solidFill>
              </a:rPr>
              <a:t>⚠  Aiven enforces sql_require_primary_key — table must be created
with PK in the DDL; ALTER TABLE after-the-fact is blocked.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Feature Extraction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All notebooks standardised: SR = 16 000 Hz · HOP = 512 · MAX_FRAMES = 110 (≈ 3.5 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169164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04288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librosa.load
sr=16000, mono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76272" y="190195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C7086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783080"/>
            <a:ext cx="169164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Truncate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304288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y[:MAX_LEN]
3.5 s cap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6512" y="190195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C7086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783080"/>
            <a:ext cx="169164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STFT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304288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n_fft=512
hop=512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190195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C7086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783080"/>
            <a:ext cx="169164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304288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4–9 channels
per notebook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190195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C7086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783080"/>
            <a:ext cx="169164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Pad/Trim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304288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Fixed shape
(N, T, 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7232" y="1901952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C7086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1783080"/>
            <a:ext cx="169164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Normalise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304288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</a:rPr>
              <a:t>Z-score
train stats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063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9B4FA"/>
                </a:solidFill>
              </a:rPr>
              <a:t>Features by Notebook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4930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Notebook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49300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Shape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493008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Channels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913632"/>
            <a:ext cx="265176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MelCNN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913632"/>
            <a:ext cx="173736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CCCCCC"/>
                </a:solidFill>
              </a:rPr>
              <a:t>(257, 110, 4)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3913632"/>
            <a:ext cx="658368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CCCCCC"/>
                </a:solidFill>
              </a:rPr>
              <a:t>Perceptual spec · ZCR · Centroid · RMS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407408"/>
            <a:ext cx="2651760" cy="457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myfeatures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4407408"/>
            <a:ext cx="1737360" cy="457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CCCCCC"/>
                </a:solidFill>
              </a:rPr>
              <a:t>(40, 110, 9)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4407408"/>
            <a:ext cx="6583680" cy="457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CCCCCC"/>
                </a:solidFill>
              </a:rPr>
              <a:t>MFCC · Δ · ΔΔ · RMS · F0 · Centroid · Flux · Contrast · PitchVar  +  6 scalars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901184"/>
            <a:ext cx="265176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PairwiseVoting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901184"/>
            <a:ext cx="173736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CCCCCC"/>
                </a:solidFill>
              </a:rPr>
              <a:t>(40, 110, 7)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4901184"/>
            <a:ext cx="6583680" cy="457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CCCCCC"/>
                </a:solidFill>
              </a:rPr>
              <a:t>MFCC · Δ · ΔΔ · RMS · F0 · ZCR · Centroid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394960"/>
            <a:ext cx="2651760" cy="457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</a:rPr>
              <a:t>Sprint2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5394960"/>
            <a:ext cx="1737360" cy="457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CCCCCC"/>
                </a:solidFill>
              </a:rPr>
              <a:t>(257, 110, 4)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0" y="5394960"/>
            <a:ext cx="6583680" cy="457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CCCCCC"/>
                </a:solidFill>
              </a:rPr>
              <a:t>Perceptual spec · ZCR · Centroid · RMS  (same as MelCNN)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Model Architectures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749039" cy="5303520"/>
          </a:xfrm>
          <a:prstGeom prst="rect">
            <a:avLst/>
          </a:prstGeom>
          <a:solidFill>
            <a:srgbClr val="313244"/>
          </a:solidFill>
          <a:ln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2801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9B4FA"/>
                </a:solidFill>
              </a:rPr>
              <a:t>MelCNN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9202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3× Conv2D → BN → MaxPool
GlobalAvgPool → Dense(128) → Softmax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79" y="2999232"/>
            <a:ext cx="3474720" cy="36576"/>
          </a:xfrm>
          <a:prstGeom prst="rect">
            <a:avLst/>
          </a:prstGeom>
          <a:solidFill>
            <a:srgbClr val="6C7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1272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• Input: (257,110,4)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301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• mixed_float16 (T4)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3308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• EarlyStopping patience=5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188720"/>
            <a:ext cx="3749039" cy="5303520"/>
          </a:xfrm>
          <a:prstGeom prst="rect">
            <a:avLst/>
          </a:prstGeom>
          <a:solidFill>
            <a:srgbClr val="313244"/>
          </a:solidFill>
          <a:ln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2801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9B4FA"/>
                </a:solidFill>
              </a:rPr>
              <a:t>CNN + BiGRU + Attention
(myfeatures)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9202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3× Conv2D → Permute → Reshape
BiGRU(96) → Attn Pool → Dense → Softmax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999232"/>
            <a:ext cx="3474720" cy="36576"/>
          </a:xfrm>
          <a:prstGeom prst="rect">
            <a:avLst/>
          </a:prstGeom>
          <a:solidFill>
            <a:srgbClr val="6C7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31272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• Input: (40,110,9) + 6 scalars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36301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• float32 (A100)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413308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• 80 epochs, batch=256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3749039" cy="5303520"/>
          </a:xfrm>
          <a:prstGeom prst="rect">
            <a:avLst/>
          </a:prstGeom>
          <a:solidFill>
            <a:srgbClr val="313244"/>
          </a:solidFill>
          <a:ln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2801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9B4FA"/>
                </a:solidFill>
              </a:rPr>
              <a:t>Pairwise Voting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9202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15 binary CNNs, one per emotion pair
Soft voting: sum P(a) + (1−P(a))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2999232"/>
            <a:ext cx="3474720" cy="36576"/>
          </a:xfrm>
          <a:prstGeom prst="rect">
            <a:avLst/>
          </a:prstGeom>
          <a:solidFill>
            <a:srgbClr val="6C7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31272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• Input: (40,110,7)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6301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• C(6,2)=15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133087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• Highest total wins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Standardisation Across Notebooks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All notebooks aligned to the same data settings to ensure comparable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190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Setting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7190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71907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9B4FA"/>
                </a:solidFill>
              </a:rPr>
              <a:t>Rationale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2468880" cy="47548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</a:rPr>
              <a:t>Sample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148840"/>
            <a:ext cx="2560320" cy="47548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CCCCCC"/>
                </a:solidFill>
              </a:rPr>
              <a:t>16 000 Hz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2148840"/>
            <a:ext cx="5943600" cy="47548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CCCCCC"/>
                </a:solidFill>
              </a:rPr>
              <a:t>Matches native recording rate of many clips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70048"/>
            <a:ext cx="2468880" cy="47548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</a:rPr>
              <a:t>Duration Cap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670048"/>
            <a:ext cx="2560320" cy="47548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CCCCCC"/>
                </a:solidFill>
              </a:rPr>
              <a:t>3.5 s  (110 frames)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670048"/>
            <a:ext cx="5943600" cy="47548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CCCCCC"/>
                </a:solidFill>
              </a:rPr>
              <a:t>Fixed-length tensor; clips filtered upfront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91256"/>
            <a:ext cx="2468880" cy="47548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</a:rPr>
              <a:t>Train/Test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3191256"/>
            <a:ext cx="2560320" cy="47548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CCCCCC"/>
                </a:solidFill>
              </a:rPr>
              <a:t>80 / 20  random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3191256"/>
            <a:ext cx="5943600" cy="47548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CCCCCC"/>
                </a:solidFill>
              </a:rPr>
              <a:t>Stratified, random_state=42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12464"/>
            <a:ext cx="2468880" cy="47548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</a:rPr>
              <a:t>Source Filter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3712464"/>
            <a:ext cx="2560320" cy="47548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CCCCCC"/>
                </a:solidFill>
              </a:rPr>
              <a:t>CREMA-D + RAVDESS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3712464"/>
            <a:ext cx="5943600" cy="47548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CCCCCC"/>
                </a:solidFill>
              </a:rPr>
              <a:t>Best diversity; TESS/SAVEE dropped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33672"/>
            <a:ext cx="2468880" cy="47548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</a:rPr>
              <a:t>Normalisation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4233672"/>
            <a:ext cx="2560320" cy="47548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CCCCCC"/>
                </a:solidFill>
              </a:rPr>
              <a:t>Per-channel z-score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4233672"/>
            <a:ext cx="5943600" cy="47548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CCCCCC"/>
                </a:solidFill>
              </a:rPr>
              <a:t>Train stats only — no leakage into test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54879"/>
            <a:ext cx="2468880" cy="47548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</a:rPr>
              <a:t>Memory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4754879"/>
            <a:ext cx="2560320" cy="47548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CCCCCC"/>
                </a:solidFill>
              </a:rPr>
              <a:t>Pre-allocated arrays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4754879"/>
            <a:ext cx="5943600" cy="47548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CCCCCC"/>
                </a:solidFill>
              </a:rPr>
              <a:t>Avoids np.stack double-copy RAM spike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76088"/>
            <a:ext cx="2468880" cy="47548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FFFFFF"/>
                </a:solidFill>
              </a:rPr>
              <a:t>Caching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5276088"/>
            <a:ext cx="2560320" cy="47548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CCCCCC"/>
                </a:solidFill>
              </a:rPr>
              <a:t>*.npz cache file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5276088"/>
            <a:ext cx="5943600" cy="47548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CCCCCC"/>
                </a:solidFill>
              </a:rPr>
              <a:t>Skip re-extraction on re-run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Next Steps — Sprint 3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54864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41148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Model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007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Hyperparameter search on MelCNN and CNN+BiGRU; compare val accuracy across architectures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41148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Data Augmentation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2374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Pitch shift, time stretch, noise injection on training clips to improve generalisation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41148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WavLM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4670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Fine-tune WavLM-large on the cleaned CREMA-D + RAVDESS split for a strong 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49039"/>
            <a:ext cx="41148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4903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Evaluation Suite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69663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Confusion matrix, per-class F1, and McNemar test to compare models statistically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41148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720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App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99262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Update HuggingFace Spaces endpoint to serve the best Sprint 3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94960"/>
            <a:ext cx="411480" cy="43891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1E1E2E"/>
                </a:solidFill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94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README 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815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Document Sprint 3 results, model cards, and updated pipeline 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9B4FA"/>
                </a:solidFill>
              </a:rPr>
              <a:t>Group 1  ·  Speech Emotion Recognition  ·  Sprint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572000"/>
            <a:ext cx="11274552" cy="54864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
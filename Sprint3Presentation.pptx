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Xj4G4T8/TRwvMcKqrSypD5MTp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43b20580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f43b20580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43b20580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43b205804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43b20580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f43b205804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43b20580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g3f43b20580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134315" y="2274800"/>
            <a:ext cx="519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SoundSense - Group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172740" y="3179000"/>
            <a:ext cx="5000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Sprint 3 — CNN Experiments &amp; Wav2Vec2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0" y="-1400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57200" y="274320"/>
            <a:ext cx="112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Model Architecture — MultiChannelCNN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457200" y="94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800000" y="1090000"/>
            <a:ext cx="46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From Feature Stack to Emotion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800000" y="1560000"/>
            <a:ext cx="4600000" cy="60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8-channel feature stack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mel · Δ · Δ² · rms · f0 · rolloff · bandwidth · contrast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2990000" y="2172000"/>
            <a:ext cx="220000" cy="13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800000" y="2320000"/>
            <a:ext cx="4600000" cy="60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block 1 → 32 filters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3×3 conv · BatchNorm · ReLU · MaxPool · SpatialDropout 0.15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2990000" y="2932000"/>
            <a:ext cx="220000" cy="13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800000" y="3080000"/>
            <a:ext cx="4600000" cy="60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block 2 → 64 filters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same pattern — feature map halves again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2990000" y="3692000"/>
            <a:ext cx="220000" cy="13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800000" y="3840000"/>
            <a:ext cx="4600000" cy="60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block 3 → 128 filters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same pattern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2990000" y="4452000"/>
            <a:ext cx="220000" cy="13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00000" y="4600000"/>
            <a:ext cx="4600000" cy="60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avg pool 4×4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128 × 4 × 4 → 2,048 features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2990000" y="5212000"/>
            <a:ext cx="220000" cy="13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800000" y="5360000"/>
            <a:ext cx="4600000" cy="60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 head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Linear(2048 → 128) · ReLU · Dropout 0.4 · Linear(128 → 6)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400000" y="1090000"/>
            <a:ext cx="53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Key Choices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400000" y="1560000"/>
            <a:ext cx="19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8300000" y="1560000"/>
            <a:ext cx="34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Choice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400000" y="199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8300000" y="199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of 11 channels · 128 × 110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400000" y="242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Dropped channels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8300000" y="242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chroma, pitch_conf, tempogram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400000" y="285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filters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8300000" y="285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 → 64 → 128 (3×3)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400000" y="328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300000" y="328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SpatialDropout 0.15 · Dropout 0.4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400000" y="371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300000" y="371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+ class weights + smoothing 0.1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400000" y="414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300000" y="414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 3e-4 · cosine, 150 epochs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400000" y="457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Trainable params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8300000" y="457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358 k (FC = 128)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6400000" y="5250000"/>
            <a:ext cx="5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Ensemble variant: FC = 128 and FC = 256 heads trained separately, softmax predictions averaged.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Experiment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57200" y="96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57200" y="110000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914400" y="1100000"/>
            <a:ext cx="5943600" cy="4572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858000" y="1100000"/>
            <a:ext cx="1371600" cy="4572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8229600" y="1100000"/>
            <a:ext cx="1371600" cy="4572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457200" y="15572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914400" y="15572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— 7ch, ReduceLROnPlateau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858000" y="15572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0.634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8229600" y="15572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457200" y="20144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914400" y="20144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SpecAugment (time + freq masking)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858000" y="20144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0.623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229600" y="20144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457200" y="24716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914400" y="24716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+bandwidth, contrast (→ 8 channels)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6858000" y="24716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0.639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8229600" y="24716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457200" y="29288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914400" y="29288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SpatialDropout2d + label smoothing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6858000" y="29288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8229600" y="29288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457200" y="33860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914400" y="33860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CosineAnnealingLR · 150 epochs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6858000" y="33860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8229600" y="33860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457200" y="38432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914400" y="38432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Focal loss γ=2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6858000" y="38432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0.638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8229600" y="38432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457200" y="43004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914400" y="43004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 restart (LR kick after plateau)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6858000" y="43004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8229600" y="43004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457200" y="47576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914400" y="47576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3-model ensemble (A+B+C)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6858000" y="47576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0.654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8229600" y="47576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best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43b205804_0_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43b205804_0_3"/>
          <p:cNvSpPr txBox="1"/>
          <p:nvPr/>
        </p:nvSpPr>
        <p:spPr>
          <a:xfrm>
            <a:off x="457200" y="274320"/>
            <a:ext cx="1127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Experiment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43b205804_0_3"/>
          <p:cNvSpPr/>
          <p:nvPr/>
        </p:nvSpPr>
        <p:spPr>
          <a:xfrm>
            <a:off x="457200" y="960000"/>
            <a:ext cx="11274600" cy="549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f43b205804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642" y="1100535"/>
            <a:ext cx="6248400" cy="561975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43b205804_0_4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43b205804_0_49"/>
          <p:cNvSpPr txBox="1"/>
          <p:nvPr/>
        </p:nvSpPr>
        <p:spPr>
          <a:xfrm>
            <a:off x="457200" y="274320"/>
            <a:ext cx="1127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Experiment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43b205804_0_49"/>
          <p:cNvSpPr/>
          <p:nvPr/>
        </p:nvSpPr>
        <p:spPr>
          <a:xfrm>
            <a:off x="457200" y="960000"/>
            <a:ext cx="11274600" cy="549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f43b205804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113" y="1725300"/>
            <a:ext cx="846772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Results — 3-Model Ensemble (0.654)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57200" y="94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457200" y="1050000"/>
            <a:ext cx="54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Per-class F1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457200" y="1450000"/>
            <a:ext cx="1600000" cy="44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2057200" y="1450000"/>
            <a:ext cx="1280000" cy="44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3337200" y="1450000"/>
            <a:ext cx="1280000" cy="44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4617200" y="1450000"/>
            <a:ext cx="1280000" cy="44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57200" y="1890000"/>
            <a:ext cx="160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2057200" y="189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0.739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3337200" y="189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0.769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617200" y="189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0.754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457200" y="2330000"/>
            <a:ext cx="160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2057200" y="233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3337200" y="233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0.739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4617200" y="233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0.688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457200" y="2770000"/>
            <a:ext cx="160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2057200" y="277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3337200" y="277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4617200" y="277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457200" y="3210000"/>
            <a:ext cx="160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2057200" y="321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0.656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3337200" y="321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0.616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4617200" y="321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0.635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57200" y="3650000"/>
            <a:ext cx="160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Fearful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2057200" y="365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0.631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3337200" y="365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0.599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4617200" y="365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0.614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457200" y="4090000"/>
            <a:ext cx="160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Disgusted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2057200" y="409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0.600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3337200" y="409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0.555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4617200" y="409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0.577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6400000" y="1050000"/>
            <a:ext cx="53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38BA8"/>
                </a:solidFill>
                <a:latin typeface="Calibri"/>
                <a:ea typeface="Calibri"/>
                <a:cs typeface="Calibri"/>
                <a:sym typeface="Calibri"/>
              </a:rPr>
              <a:t>Structural Bottleneck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"/>
          <p:cNvSpPr txBox="1"/>
          <p:nvPr/>
        </p:nvSpPr>
        <p:spPr>
          <a:xfrm>
            <a:off x="6400000" y="1480000"/>
            <a:ext cx="3118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Disgusted F1 = 0.577 — never moved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Acoustically close to Angry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are high-arousal, negative-valence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 energy is our #1 feature — 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Angry + Disgusted share similar energy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loss function or ensemble trick fixed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It's a data-level ceiling: not enough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actor diversity for Disgusted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CREMA-D + RAVDESS.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/>
          <p:nvPr/>
        </p:nvSpPr>
        <p:spPr>
          <a:xfrm>
            <a:off x="0" y="-1400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457200" y="274320"/>
            <a:ext cx="112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Wav2Vec2— Moving Beyond Hand-Crafted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457200" y="94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1782700" y="1066200"/>
            <a:ext cx="54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Case for a Pretrained Encoder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 txBox="1"/>
          <p:nvPr/>
        </p:nvSpPr>
        <p:spPr>
          <a:xfrm>
            <a:off x="1696250" y="1485125"/>
            <a:ext cx="35097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Feature ceiling at ~0.65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Hand-crafted mel + prosody is lossy —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we decide what to measure upfront.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Confusable classes need subtle cues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Fearful / Sad / Neutral separated by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breathiness, tension, speaking rate —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things mel spectrograms average out.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WavLM reads the raw waveform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24 transformer layers learn to capture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what we can't hand-engineer.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Weighted layer sum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Model picks which layers help most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for emotion (upper=semantics,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lower=phonetics/prosody).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6400000" y="1050000"/>
            <a:ext cx="53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CNN  vs  Wav2Vec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6400000" y="1480000"/>
            <a:ext cx="16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8000000" y="1480000"/>
            <a:ext cx="18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9800000" y="1480000"/>
            <a:ext cx="19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WavLM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6400000" y="191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8000000" y="191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hand-crafted ch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9800000" y="191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16 kHz waveform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6400000" y="2340000"/>
            <a:ext cx="16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8000000" y="2340000"/>
            <a:ext cx="18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~200k params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9800000" y="2340000"/>
            <a:ext cx="19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 M params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6400000" y="277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8000000" y="277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 / AdamW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9800000" y="277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LLRD (γ=0.95)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6400000" y="3200000"/>
            <a:ext cx="16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8000000" y="3200000"/>
            <a:ext cx="18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+ class weights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9800000" y="3200000"/>
            <a:ext cx="19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Focal + class weights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6400000" y="363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8000000" y="363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None (hurt us)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9800000" y="363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Built-in SpecAugment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6400000" y="4060000"/>
            <a:ext cx="16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8000000" y="4060000"/>
            <a:ext cx="18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Speaker-indep 80/20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9800000" y="4060000"/>
            <a:ext cx="1900000" cy="430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— comparable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6400000" y="449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8000000" y="449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CREMA-D + RAVDESS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9800000" y="449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0" y="-1400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57200" y="274320"/>
            <a:ext cx="112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Wav2Vec2 Model Architecture — WavLM-large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7200" y="94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600000" y="1090000"/>
            <a:ext cx="46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From Raw Waveform to Emotion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00000" y="1780000"/>
            <a:ext cx="4600000" cy="68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waveform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16 kHz mono · 1–5 s clips, capped at 5 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790000" y="2475000"/>
            <a:ext cx="220000" cy="16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600000" y="2650000"/>
            <a:ext cx="4600000" cy="68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feature encoder — FROZEN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pretrained conv front-end → 20 ms frames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790000" y="3345000"/>
            <a:ext cx="220000" cy="16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600000" y="3520000"/>
            <a:ext cx="4600000" cy="68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transformer layers — fine-tuned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hidden = 1024 · learns prosody, tension, rate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790000" y="4215000"/>
            <a:ext cx="220000" cy="16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00000" y="4390000"/>
            <a:ext cx="4600000" cy="68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layer sum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trainable scalar per layer — model picks the mix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2790000" y="5085000"/>
            <a:ext cx="220000" cy="16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9B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600000" y="5260000"/>
            <a:ext cx="4600000" cy="680000"/>
          </a:xfrm>
          <a:prstGeom prst="roundRect">
            <a:avLst>
              <a:gd fmla="val 16667" name="adj"/>
            </a:avLst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head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Linear(1024 → 6 emotions)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6292000" y="1090000"/>
            <a:ext cx="53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Key Choices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6292000" y="1780000"/>
            <a:ext cx="19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92000" y="1780000"/>
            <a:ext cx="3400000" cy="430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Choice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6292000" y="221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8192000" y="221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WavLM-large · 300 M params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6292000" y="264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encoder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8192000" y="264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 (CNN front-end)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6292000" y="307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sum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8192000" y="307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Trainable weight per layer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6292000" y="350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8192000" y="350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Linear(1024 → 6)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6292000" y="393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weights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8192000" y="393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Balanced — helps Disgusted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292000" y="436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Trainable params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8192000" y="4360000"/>
            <a:ext cx="3400000" cy="4300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~311 M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6292000" y="5040000"/>
            <a:ext cx="5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BAC2DE"/>
                </a:solidFill>
                <a:latin typeface="Calibri"/>
                <a:ea typeface="Calibri"/>
                <a:cs typeface="Calibri"/>
                <a:sym typeface="Calibri"/>
              </a:rPr>
              <a:t>Same dataset, speaker-independent split, and seed as the CNN runs — results are directly comparable.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43b205804_0_8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43b205804_0_80"/>
          <p:cNvSpPr txBox="1"/>
          <p:nvPr/>
        </p:nvSpPr>
        <p:spPr>
          <a:xfrm>
            <a:off x="457200" y="274320"/>
            <a:ext cx="1127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Wav2Vec2 Experiment - 0.732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43b205804_0_80"/>
          <p:cNvSpPr/>
          <p:nvPr/>
        </p:nvSpPr>
        <p:spPr>
          <a:xfrm>
            <a:off x="457200" y="940000"/>
            <a:ext cx="11274600" cy="549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43b205804_0_80"/>
          <p:cNvSpPr txBox="1"/>
          <p:nvPr/>
        </p:nvSpPr>
        <p:spPr>
          <a:xfrm>
            <a:off x="457200" y="1050000"/>
            <a:ext cx="54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Per-class F1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43b205804_0_80"/>
          <p:cNvSpPr/>
          <p:nvPr/>
        </p:nvSpPr>
        <p:spPr>
          <a:xfrm>
            <a:off x="457200" y="1450000"/>
            <a:ext cx="1599900" cy="4401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43b205804_0_80"/>
          <p:cNvSpPr/>
          <p:nvPr/>
        </p:nvSpPr>
        <p:spPr>
          <a:xfrm>
            <a:off x="2057200" y="1450000"/>
            <a:ext cx="1280100" cy="4401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43b205804_0_80"/>
          <p:cNvSpPr/>
          <p:nvPr/>
        </p:nvSpPr>
        <p:spPr>
          <a:xfrm>
            <a:off x="3337200" y="1450000"/>
            <a:ext cx="1280100" cy="4401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43b205804_0_80"/>
          <p:cNvSpPr/>
          <p:nvPr/>
        </p:nvSpPr>
        <p:spPr>
          <a:xfrm>
            <a:off x="4617200" y="1450000"/>
            <a:ext cx="1280100" cy="4401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43b205804_0_80"/>
          <p:cNvSpPr/>
          <p:nvPr/>
        </p:nvSpPr>
        <p:spPr>
          <a:xfrm>
            <a:off x="457200" y="1890000"/>
            <a:ext cx="15999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43b205804_0_80"/>
          <p:cNvSpPr/>
          <p:nvPr/>
        </p:nvSpPr>
        <p:spPr>
          <a:xfrm>
            <a:off x="2057200" y="189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0.765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43b205804_0_80"/>
          <p:cNvSpPr/>
          <p:nvPr/>
        </p:nvSpPr>
        <p:spPr>
          <a:xfrm>
            <a:off x="3337200" y="189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0.945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43b205804_0_80"/>
          <p:cNvSpPr/>
          <p:nvPr/>
        </p:nvSpPr>
        <p:spPr>
          <a:xfrm>
            <a:off x="4617200" y="189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0.846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43b205804_0_80"/>
          <p:cNvSpPr/>
          <p:nvPr/>
        </p:nvSpPr>
        <p:spPr>
          <a:xfrm>
            <a:off x="457200" y="2330000"/>
            <a:ext cx="15999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43b205804_0_80"/>
          <p:cNvSpPr/>
          <p:nvPr/>
        </p:nvSpPr>
        <p:spPr>
          <a:xfrm>
            <a:off x="2057200" y="233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0.711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43b205804_0_80"/>
          <p:cNvSpPr/>
          <p:nvPr/>
        </p:nvSpPr>
        <p:spPr>
          <a:xfrm>
            <a:off x="3337200" y="233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0.928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43b205804_0_80"/>
          <p:cNvSpPr/>
          <p:nvPr/>
        </p:nvSpPr>
        <p:spPr>
          <a:xfrm>
            <a:off x="4617200" y="233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0.805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43b205804_0_80"/>
          <p:cNvSpPr/>
          <p:nvPr/>
        </p:nvSpPr>
        <p:spPr>
          <a:xfrm>
            <a:off x="457200" y="2770000"/>
            <a:ext cx="15999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43b205804_0_80"/>
          <p:cNvSpPr/>
          <p:nvPr/>
        </p:nvSpPr>
        <p:spPr>
          <a:xfrm>
            <a:off x="2057200" y="277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0.556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43b205804_0_80"/>
          <p:cNvSpPr/>
          <p:nvPr/>
        </p:nvSpPr>
        <p:spPr>
          <a:xfrm>
            <a:off x="3337200" y="277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0.679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43b205804_0_80"/>
          <p:cNvSpPr/>
          <p:nvPr/>
        </p:nvSpPr>
        <p:spPr>
          <a:xfrm>
            <a:off x="4617200" y="277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0.611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43b205804_0_80"/>
          <p:cNvSpPr/>
          <p:nvPr/>
        </p:nvSpPr>
        <p:spPr>
          <a:xfrm>
            <a:off x="457200" y="3210000"/>
            <a:ext cx="15999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43b205804_0_80"/>
          <p:cNvSpPr/>
          <p:nvPr/>
        </p:nvSpPr>
        <p:spPr>
          <a:xfrm>
            <a:off x="2057200" y="321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0.911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43b205804_0_80"/>
          <p:cNvSpPr/>
          <p:nvPr/>
        </p:nvSpPr>
        <p:spPr>
          <a:xfrm>
            <a:off x="3337200" y="321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0.649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43b205804_0_80"/>
          <p:cNvSpPr/>
          <p:nvPr/>
        </p:nvSpPr>
        <p:spPr>
          <a:xfrm>
            <a:off x="4617200" y="321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0.758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43b205804_0_80"/>
          <p:cNvSpPr/>
          <p:nvPr/>
        </p:nvSpPr>
        <p:spPr>
          <a:xfrm>
            <a:off x="457200" y="3650000"/>
            <a:ext cx="15999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Fearful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43b205804_0_80"/>
          <p:cNvSpPr/>
          <p:nvPr/>
        </p:nvSpPr>
        <p:spPr>
          <a:xfrm>
            <a:off x="2057200" y="365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0.719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43b205804_0_80"/>
          <p:cNvSpPr/>
          <p:nvPr/>
        </p:nvSpPr>
        <p:spPr>
          <a:xfrm>
            <a:off x="3337200" y="365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0.541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43b205804_0_80"/>
          <p:cNvSpPr/>
          <p:nvPr/>
        </p:nvSpPr>
        <p:spPr>
          <a:xfrm>
            <a:off x="4617200" y="3650000"/>
            <a:ext cx="1280100" cy="44010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0.617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43b205804_0_80"/>
          <p:cNvSpPr/>
          <p:nvPr/>
        </p:nvSpPr>
        <p:spPr>
          <a:xfrm>
            <a:off x="457200" y="4090000"/>
            <a:ext cx="15999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Disgusted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43b205804_0_80"/>
          <p:cNvSpPr/>
          <p:nvPr/>
        </p:nvSpPr>
        <p:spPr>
          <a:xfrm>
            <a:off x="2057200" y="409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0.827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43b205804_0_80"/>
          <p:cNvSpPr/>
          <p:nvPr/>
        </p:nvSpPr>
        <p:spPr>
          <a:xfrm>
            <a:off x="3337200" y="409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0.682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43b205804_0_80"/>
          <p:cNvSpPr/>
          <p:nvPr/>
        </p:nvSpPr>
        <p:spPr>
          <a:xfrm>
            <a:off x="4617200" y="4090000"/>
            <a:ext cx="1280100" cy="4401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0.748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3b205804_0_6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43b205804_0_64"/>
          <p:cNvSpPr txBox="1"/>
          <p:nvPr/>
        </p:nvSpPr>
        <p:spPr>
          <a:xfrm>
            <a:off x="457200" y="274320"/>
            <a:ext cx="1127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Wav2Vec2 Experiment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43b205804_0_64"/>
          <p:cNvSpPr/>
          <p:nvPr/>
        </p:nvSpPr>
        <p:spPr>
          <a:xfrm>
            <a:off x="457200" y="960000"/>
            <a:ext cx="11274600" cy="549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g3f43b20580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2700" y="1613225"/>
            <a:ext cx="5543550" cy="447675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 txBox="1"/>
          <p:nvPr/>
        </p:nvSpPr>
        <p:spPr>
          <a:xfrm>
            <a:off x="4171675" y="2308275"/>
            <a:ext cx="3419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"/>
          <p:cNvSpPr txBox="1"/>
          <p:nvPr/>
        </p:nvSpPr>
        <p:spPr>
          <a:xfrm>
            <a:off x="4171665" y="3259650"/>
            <a:ext cx="69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Group 1  ·  SoundSense  ·  Sprint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457200" y="3820000"/>
            <a:ext cx="11274600" cy="549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
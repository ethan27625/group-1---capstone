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2008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GROUP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0000"/>
            <a:ext cx="52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Speech Emotion
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9B4FA"/>
                </a:solidFill>
              </a:rPr>
              <a:t>Sprint 3 — CNN Experiments &amp; WavLM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CREMA-D · RAVDESS · 8 channels · 0.654 → WavLM-large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0" y="2100000"/>
            <a:ext cx="1828800" cy="4114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1E2E"/>
                </a:solidFill>
              </a:rPr>
              <a:t>CREMA-D</a:t>
            </a:r>
          </a:p>
        </p:txBody>
      </p:sp>
      <p:sp>
        <p:nvSpPr>
          <p:cNvPr id="8" name="Rectangle 7"/>
          <p:cNvSpPr/>
          <p:nvPr/>
        </p:nvSpPr>
        <p:spPr>
          <a:xfrm>
            <a:off x="8100000" y="2100000"/>
            <a:ext cx="1828800" cy="4114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1E2E"/>
                </a:solidFill>
              </a:rPr>
              <a:t>RAVDESS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00000" y="2100000"/>
            <a:ext cx="1828800" cy="41148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1E2E"/>
                </a:solidFill>
              </a:rPr>
              <a:t>16 kHz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00000" y="3100000"/>
            <a:ext cx="1828800" cy="4114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1E2E"/>
                </a:solidFill>
              </a:rPr>
              <a:t>8 channels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0000" y="3100000"/>
            <a:ext cx="1828800" cy="4114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1E2E"/>
                </a:solidFill>
              </a:rPr>
              <a:t>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00000" y="3100000"/>
            <a:ext cx="1828800" cy="41148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1E2E"/>
                </a:solidFill>
              </a:rPr>
              <a:t>0.654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00000" y="4100000"/>
            <a:ext cx="1828800" cy="41148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1E2E"/>
                </a:solidFill>
              </a:rPr>
              <a:t>WavLM-large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0000" y="4100000"/>
            <a:ext cx="1828800" cy="4114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1E2E"/>
                </a:solidFill>
              </a:rPr>
              <a:t>Speaker-Indep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CNN Experiment 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00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00000"/>
            <a:ext cx="45720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E1E2E"/>
                </a:solidFill>
              </a:rPr>
              <a:t>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00000"/>
            <a:ext cx="594360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E1E2E"/>
                </a:solidFill>
              </a:rPr>
              <a:t>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100000"/>
            <a:ext cx="137160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E1E2E"/>
                </a:solidFill>
              </a:rPr>
              <a:t>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100000"/>
            <a:ext cx="137160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E1E2E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7200"/>
            <a:ext cx="4572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557200"/>
            <a:ext cx="59436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Baseline — 7ch, ReduceLROnPlateau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5572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5572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4400"/>
            <a:ext cx="4572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014400"/>
            <a:ext cx="5943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SpecAugment (time + freq masking)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0144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0144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71600"/>
            <a:ext cx="4572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471600"/>
            <a:ext cx="59436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+bandwidth, contrast (→ 8 channels)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4716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0.639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4716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28800"/>
            <a:ext cx="4572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928800"/>
            <a:ext cx="5943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SpatialDropout2d + label smoothing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9288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0.641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9288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86000"/>
            <a:ext cx="4572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386000"/>
            <a:ext cx="59436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CosineAnnealingLR · 150 epochs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3860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0.647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3860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43200"/>
            <a:ext cx="4572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843200"/>
            <a:ext cx="5943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Focal loss γ=2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432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8432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300400"/>
            <a:ext cx="4572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300400"/>
            <a:ext cx="59436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Warm restart (LR kick after plateau)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3004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300400"/>
            <a:ext cx="1371600" cy="4572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757600"/>
            <a:ext cx="4572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757600"/>
            <a:ext cx="5943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3-model ensemble (A+B+C)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47576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0.654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757600"/>
            <a:ext cx="1371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★ best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350000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Best single model: 0.650 (Run 7) · Best overall: 0.654 (Run 8 ensemble)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Best Results — 3-Model Ensemble (0.654)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4000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0000"/>
            <a:ext cx="5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Per-class F1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50000"/>
            <a:ext cx="1600000" cy="440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E1E2E"/>
                </a:solidFill>
              </a:rPr>
              <a:t>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200" y="1450000"/>
            <a:ext cx="1280000" cy="440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E1E2E"/>
                </a:solidFill>
              </a:rPr>
              <a:t>Precision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200" y="1450000"/>
            <a:ext cx="1280000" cy="440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E1E2E"/>
                </a:solidFill>
              </a:rPr>
              <a:t>Recall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200" y="1450000"/>
            <a:ext cx="1280000" cy="440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E1E2E"/>
                </a:solidFill>
              </a:rPr>
              <a:t>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90000"/>
            <a:ext cx="1600000" cy="44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Angry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200" y="189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0.739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200" y="189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0.769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200" y="189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0.754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0000"/>
            <a:ext cx="1600000" cy="44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Neutral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200" y="233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0.643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200" y="233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0.739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200" y="233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0.688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70000"/>
            <a:ext cx="1600000" cy="44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Sad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200" y="277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200" y="277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0.649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200" y="277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10000"/>
            <a:ext cx="1600000" cy="44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Happy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200" y="321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0.656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200" y="321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200" y="321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0.635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50000"/>
            <a:ext cx="1600000" cy="44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Fearful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200" y="365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0.631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200" y="365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0.599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200" y="3650000"/>
            <a:ext cx="1280000" cy="44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90000"/>
            <a:ext cx="1600000" cy="44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Disgusted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200" y="409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0.600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200" y="409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0.555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200" y="4090000"/>
            <a:ext cx="1280000" cy="44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0.577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000" y="1050000"/>
            <a:ext cx="5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8BA8"/>
                </a:solidFill>
              </a:rPr>
              <a:t>Structural Bottleneck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000" y="1480000"/>
            <a:ext cx="53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Disgusted F1 = 0.577 — never moved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Acoustically close to Angry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Both are high-arousal, negative-valence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RMS energy is our #1 feature — but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Angry + Disgusted share similar energy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No loss function or ensemble trick fixed it.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It's a data-level ceiling: not enough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actor diversity for Disgusted in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CREMA-D + RAVDESS.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50000"/>
            <a:ext cx="11274552" cy="59436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CCCCCC"/>
                </a:solidFill>
              </a:rPr>
              <a:t>Top features (by permutation importance): RMS (+0.199) · delta2 (+0.167) · delta (+0.148) · F0 (+0.124) · mel (+0.105)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WavLM — Moving Beyond Hand-Crafted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4000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0000"/>
            <a:ext cx="5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The Case for a Pretrained 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0000"/>
            <a:ext cx="55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FFFFFF"/>
                </a:solidFill>
              </a:rPr>
              <a:t>1.  Feature ceiling at ~0.65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    Hand-crafted mel + prosody is lossy —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    we decide what to measure upfront.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2.  Confusable classes need subtle cues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    Fearful / Sad / Neutral separated by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    breathiness, tension, speaking rate —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    things mel spectrograms average out.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3.  WavLM reads the raw waveform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    24 transformer layers learn to capture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    what we can't hand-engineer.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4.  Weighted layer sum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    Model picks which layers help most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    for emotion (upper=semantics,</a:t>
            </a:r>
          </a:p>
          <a:p>
            <a:pPr algn="l"/>
            <a:r>
              <a:rPr sz="1150">
                <a:solidFill>
                  <a:srgbClr val="FFFFFF"/>
                </a:solidFill>
              </a:rPr>
              <a:t>    lower=phonetics/prosody).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000" y="1050000"/>
            <a:ext cx="5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</a:rPr>
              <a:t>CNN  vs  WavLM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000" y="1480000"/>
            <a:ext cx="1600000" cy="430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E1E2E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8000000" y="1480000"/>
            <a:ext cx="1800000" cy="430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E1E2E"/>
                </a:solidFill>
              </a:rPr>
              <a:t>CNN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00000" y="1480000"/>
            <a:ext cx="1900000" cy="430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E1E2E"/>
                </a:solidFill>
              </a:rPr>
              <a:t>WavLM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000" y="1910000"/>
            <a:ext cx="1600000" cy="43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0" y="1910000"/>
            <a:ext cx="1800000" cy="43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8 hand-crafted 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00000" y="191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Raw 16 kHz waveform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000" y="2340000"/>
            <a:ext cx="1600000" cy="43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0" y="2340000"/>
            <a:ext cx="1800000" cy="43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~200k params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00000" y="2340000"/>
            <a:ext cx="1900000" cy="43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300 M params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000" y="2770000"/>
            <a:ext cx="1600000" cy="43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Optimizer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0000" y="2770000"/>
            <a:ext cx="1800000" cy="43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Adam / AdamW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00000" y="277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LLRD (γ=0.95)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000" y="3200000"/>
            <a:ext cx="1600000" cy="43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Loss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0" y="3200000"/>
            <a:ext cx="1800000" cy="43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CE + class weights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00000" y="3200000"/>
            <a:ext cx="1900000" cy="43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Focal + class weights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000" y="3630000"/>
            <a:ext cx="1600000" cy="43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Aug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0000" y="3630000"/>
            <a:ext cx="1800000" cy="43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None (hurt us)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00000" y="363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Built-in SpecAugment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000" y="4060000"/>
            <a:ext cx="1600000" cy="43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0000" y="4060000"/>
            <a:ext cx="1800000" cy="43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Speaker-indep 80/20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00000" y="4060000"/>
            <a:ext cx="1900000" cy="43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Same — comparable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000" y="4490000"/>
            <a:ext cx="1600000" cy="43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0" y="4490000"/>
            <a:ext cx="1800000" cy="43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CREMA-D + RAVDESS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00000" y="4490000"/>
            <a:ext cx="1900000" cy="4300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Same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2008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GROUP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0000"/>
            <a:ext cx="80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9B4FA"/>
                </a:solidFill>
              </a:rPr>
              <a:t>Group 1  ·  Speech Emotion Recognition  ·  Sprint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400000"/>
            <a:ext cx="11548872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CCCC"/>
                </a:solidFill>
              </a:rP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2000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920000"/>
            <a:ext cx="6400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920000"/>
            <a:ext cx="10405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Speaker k-fold CV — error bars on the headline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70000"/>
            <a:ext cx="6400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470000"/>
            <a:ext cx="10405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Ensemble CNN + WavLM — different inductive biases, potential accuracy gain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0000"/>
            <a:ext cx="6400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5020000"/>
            <a:ext cx="10405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LoRA fine-tuning — match WavLM accuracy with ~1 M trainable params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570000"/>
            <a:ext cx="6400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570000"/>
            <a:ext cx="10405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More Disgusted data — MSP-IMPROV / IEMOCAP to break the data ceiling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